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svg" ContentType="image/svg+xml"/>
  <Default Extension="fntdata" ContentType="application/x-fontdata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 Medium"/>
      <p:regular r:id="rId17"/>
    </p:embeddedFont>
    <p:embeddedFont>
      <p:font typeface="Barlow Medium"/>
      <p:regular r:id="rId18"/>
    </p:embeddedFont>
    <p:embeddedFont>
      <p:font typeface="Barlow Medium"/>
      <p:regular r:id="rId19"/>
    </p:embeddedFont>
    <p:embeddedFont>
      <p:font typeface="Barlow Medium"/>
      <p:regular r:id="rId20"/>
    </p:embeddedFont>
    <p:embeddedFont>
      <p:font typeface="Barlow"/>
      <p:regular r:id="rId21"/>
    </p:embeddedFont>
    <p:embeddedFont>
      <p:font typeface="Barlow"/>
      <p:regular r:id="rId22"/>
    </p:embeddedFont>
    <p:embeddedFont>
      <p:font typeface="Barlow"/>
      <p:regular r:id="rId23"/>
    </p:embeddedFont>
    <p:embeddedFont>
      <p:font typeface="Barl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notesMaster" Target="/ppt/notesMasters/notesMaster1.xml" Id="rId12" /><Relationship Type="http://schemas.openxmlformats.org/officeDocument/2006/relationships/presProps" Target="/ppt/presProps.xml" Id="rId13" /><Relationship Type="http://schemas.openxmlformats.org/officeDocument/2006/relationships/viewProps" Target="/ppt/viewProps.xml" Id="rId14" /><Relationship Type="http://schemas.openxmlformats.org/officeDocument/2006/relationships/theme" Target="/ppt/theme/theme1.xml" Id="rId15" /><Relationship Type="http://schemas.openxmlformats.org/officeDocument/2006/relationships/tableStyles" Target="/ppt/tableStyles.xml" Id="rId16" /><Relationship Type="http://schemas.openxmlformats.org/officeDocument/2006/relationships/font" Target="/ppt/fonts/font1.fntdata" Id="rId17" /><Relationship Type="http://schemas.openxmlformats.org/officeDocument/2006/relationships/font" Target="/ppt/fonts/font2.fntdata" Id="rId18" /><Relationship Type="http://schemas.openxmlformats.org/officeDocument/2006/relationships/font" Target="/ppt/fonts/font3.fntdata" Id="rId19" /><Relationship Type="http://schemas.openxmlformats.org/officeDocument/2006/relationships/font" Target="/ppt/fonts/font4.fntdata" Id="rId20" /><Relationship Type="http://schemas.openxmlformats.org/officeDocument/2006/relationships/font" Target="/ppt/fonts/font5.fntdata" Id="rId21" /><Relationship Type="http://schemas.openxmlformats.org/officeDocument/2006/relationships/font" Target="/ppt/fonts/font6.fntdata" Id="rId22" /><Relationship Type="http://schemas.openxmlformats.org/officeDocument/2006/relationships/font" Target="/ppt/fonts/font7.fntdata" Id="rId23" /><Relationship Type="http://schemas.openxmlformats.org/officeDocument/2006/relationships/font" Target="/ppt/fonts/font8.fntdata" Id="rId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0.xml" Id="rId2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-1002-1.png" Id="rId1" /><Relationship Type="http://schemas.openxmlformats.org/officeDocument/2006/relationships/image" Target="/ppt/media/image-1002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-1003-1.png" Id="rId1" /><Relationship Type="http://schemas.openxmlformats.org/officeDocument/2006/relationships/image" Target="/ppt/media/image-1003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-1004-1.png" Id="rId1" /><Relationship Type="http://schemas.openxmlformats.org/officeDocument/2006/relationships/image" Target="/ppt/media/image-1004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-1005-1.png" Id="rId1" /><Relationship Type="http://schemas.openxmlformats.org/officeDocument/2006/relationships/image" Target="/ppt/media/image-1005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image" Target="/ppt/media/image-1006-1.png" Id="rId1" /><Relationship Type="http://schemas.openxmlformats.org/officeDocument/2006/relationships/image" Target="/ppt/media/image-1006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image" Target="/ppt/media/image-1007-1.png" Id="rId1" /><Relationship Type="http://schemas.openxmlformats.org/officeDocument/2006/relationships/image" Target="/ppt/media/image-1007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image" Target="/ppt/media/image-1008-1.png" Id="rId1" /><Relationship Type="http://schemas.openxmlformats.org/officeDocument/2006/relationships/image" Target="/ppt/media/image-1008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image" Target="/ppt/media/image-1009-1.png" Id="rId1" /><Relationship Type="http://schemas.openxmlformats.org/officeDocument/2006/relationships/image" Target="/ppt/media/image-1009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image" Target="/ppt/media/image-1010-1.png" Id="rId1" /><Relationship Type="http://schemas.openxmlformats.org/officeDocument/2006/relationships/image" Target="/ppt/media/image-1010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image" Target="/ppt/media/image-1011-1.png" Id="rId1" /><Relationship Type="http://schemas.openxmlformats.org/officeDocument/2006/relationships/image" Target="/ppt/media/image-1011-2.png" Id="rId2" /><Relationship Type="http://schemas.openxmlformats.org/officeDocument/2006/relationships/slideMaster" Target="/ppt/slideMasters/slideMaster1.xml" Id="rId4" /><Relationship Type="http://schemas.openxmlformats.org/officeDocument/2006/relationships/hyperlink" Target="https://gamma.app/?utm_source=made-with-gamma" TargetMode="External" Id="rId3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-1-1.png" Id="rId1" /><Relationship Type="http://schemas.openxmlformats.org/officeDocument/2006/relationships/slideLayout" Target="/ppt/slideLayouts/slideLayout2.xml" Id="rId2" /><Relationship Type="http://schemas.openxmlformats.org/officeDocument/2006/relationships/notesSlide" Target="/ppt/notesSlides/notesSlide1.xml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-2-1.png" Id="rId1" /><Relationship Type="http://schemas.openxmlformats.org/officeDocument/2006/relationships/slideLayout" Target="/ppt/slideLayouts/slideLayout3.xml" Id="rId2" /><Relationship Type="http://schemas.openxmlformats.org/officeDocument/2006/relationships/notesSlide" Target="/ppt/notesSlides/notesSlide2.xml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-3-1.png" Id="rId1" /><Relationship Type="http://schemas.openxmlformats.org/officeDocument/2006/relationships/image" Target="/ppt/media/image-3-2.svg" Id="rId2" /><Relationship Type="http://schemas.openxmlformats.org/officeDocument/2006/relationships/slideLayout" Target="/ppt/slideLayouts/slideLayout4.xml" Id="rId3" /><Relationship Type="http://schemas.openxmlformats.org/officeDocument/2006/relationships/notesSlide" Target="/ppt/notesSlides/notesSlide3.xml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-4-1.png" Id="rId1" /><Relationship Type="http://schemas.openxmlformats.org/officeDocument/2006/relationships/image" Target="/ppt/media/image-4-2.png" Id="rId2" /><Relationship Type="http://schemas.openxmlformats.org/officeDocument/2006/relationships/image" Target="/ppt/media/image-4-3.svg" Id="rId3" /><Relationship Type="http://schemas.openxmlformats.org/officeDocument/2006/relationships/slideLayout" Target="/ppt/slideLayouts/slideLayout5.xml" Id="rId4" /><Relationship Type="http://schemas.openxmlformats.org/officeDocument/2006/relationships/notesSlide" Target="/ppt/notesSlides/notesSlide4.xml" Id="rI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5.xml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-6-1.png" Id="rId1" /><Relationship Type="http://schemas.openxmlformats.org/officeDocument/2006/relationships/image" Target="/ppt/media/image-6-2.png" Id="rId2" /><Relationship Type="http://schemas.openxmlformats.org/officeDocument/2006/relationships/image" Target="/ppt/media/image-6-3.svg" Id="rId3" /><Relationship Type="http://schemas.openxmlformats.org/officeDocument/2006/relationships/image" Target="/ppt/media/image-6-4.png" Id="rId4" /><Relationship Type="http://schemas.openxmlformats.org/officeDocument/2006/relationships/image" Target="/ppt/media/image-6-5.png" Id="rId5" /><Relationship Type="http://schemas.openxmlformats.org/officeDocument/2006/relationships/image" Target="/ppt/media/image-6-6.svg" Id="rId6" /><Relationship Type="http://schemas.openxmlformats.org/officeDocument/2006/relationships/image" Target="/ppt/media/image-6-7.png" Id="rId7" /><Relationship Type="http://schemas.openxmlformats.org/officeDocument/2006/relationships/image" Target="/ppt/media/image-6-8.png" Id="rId8" /><Relationship Type="http://schemas.openxmlformats.org/officeDocument/2006/relationships/image" Target="/ppt/media/image-6-9.svg" Id="rId9" /><Relationship Type="http://schemas.openxmlformats.org/officeDocument/2006/relationships/slideLayout" Target="/ppt/slideLayouts/slideLayout7.xml" Id="rId10" /><Relationship Type="http://schemas.openxmlformats.org/officeDocument/2006/relationships/notesSlide" Target="/ppt/notesSlides/notesSlide6.xml" Id="rId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-7-1.png" Id="rId1" /><Relationship Type="http://schemas.openxmlformats.org/officeDocument/2006/relationships/image" Target="/ppt/media/image-7-2.png" Id="rId2" /><Relationship Type="http://schemas.openxmlformats.org/officeDocument/2006/relationships/slideLayout" Target="/ppt/slideLayouts/slideLayout8.xml" Id="rId3" /><Relationship Type="http://schemas.openxmlformats.org/officeDocument/2006/relationships/notesSlide" Target="/ppt/notesSlides/notesSlide7.xml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-8-1.png" Id="rId1" /><Relationship Type="http://schemas.openxmlformats.org/officeDocument/2006/relationships/image" Target="/ppt/media/image-8-2.png" Id="rId2" /><Relationship Type="http://schemas.openxmlformats.org/officeDocument/2006/relationships/image" Target="/ppt/media/image-8-3.svg" Id="rId3" /><Relationship Type="http://schemas.openxmlformats.org/officeDocument/2006/relationships/slideLayout" Target="/ppt/slideLayouts/slideLayout9.xml" Id="rId4" /><Relationship Type="http://schemas.openxmlformats.org/officeDocument/2006/relationships/notesSlide" Target="/ppt/notesSlides/notesSlide8.xml" Id="rI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-9-1.png" Id="rId1" /><Relationship Type="http://schemas.openxmlformats.org/officeDocument/2006/relationships/slideLayout" Target="/ppt/slideLayouts/slideLayout10.xml" Id="rId2" /><Relationship Type="http://schemas.openxmlformats.org/officeDocument/2006/relationships/notesSlide" Target="/ppt/notesSlides/notesSlide9.xml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Relationship Type="http://schemas.openxmlformats.org/officeDocument/2006/relationships/notesSlide" Target="/ppt/notesSlides/notesSlide10.xml" Id="rId2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84880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Shopping Behavior Analysis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590693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Uncovering insights from 3,900 purchases to guide strategic business decisions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2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08509" y="3213735"/>
            <a:ext cx="1048822" cy="394930"/>
          </a:xfrm>
          <a:prstGeom prst="roundRect">
            <a:avLst>
              <a:gd name="adj" fmla="val 17876"/>
            </a:avLst>
          </a:prstGeom>
          <a:solidFill>
            <a:srgbClr val="480405"/>
          </a:solidFill>
          <a:ln/>
        </p:spPr>
      </p:sp>
      <p:sp>
        <p:nvSpPr>
          <p:cNvPr id="4" name="Text 1"/>
          <p:cNvSpPr/>
          <p:nvPr/>
        </p:nvSpPr>
        <p:spPr>
          <a:xfrm>
            <a:off x="1534478" y="3276719"/>
            <a:ext cx="796885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OVERVIEW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08509" y="3692604"/>
            <a:ext cx="4669274" cy="583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Project Scope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1408509" y="4591407"/>
            <a:ext cx="5801558" cy="1651516"/>
          </a:xfrm>
          <a:prstGeom prst="roundRect">
            <a:avLst>
              <a:gd name="adj" fmla="val 5344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26156" y="4809053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Dataset Size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26156" y="5226844"/>
            <a:ext cx="5366266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3,900 transactions analyzed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26156" y="5689044"/>
            <a:ext cx="5366266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18 key features tracked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20094" y="4591407"/>
            <a:ext cx="5801678" cy="1651516"/>
          </a:xfrm>
          <a:prstGeom prst="roundRect">
            <a:avLst>
              <a:gd name="adj" fmla="val 5344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7740" y="4809053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Data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37740" y="5226844"/>
            <a:ext cx="5366385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Demographics, location, subscription status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408509" y="6452949"/>
            <a:ext cx="5801558" cy="1189315"/>
          </a:xfrm>
          <a:prstGeom prst="roundRect">
            <a:avLst>
              <a:gd name="adj" fmla="val 7420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26156" y="6670596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Purchase Details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26156" y="7088386"/>
            <a:ext cx="5366266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Categories, amounts, seasons, discounts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7420094" y="6452949"/>
            <a:ext cx="5801678" cy="1189315"/>
          </a:xfrm>
          <a:prstGeom prst="roundRect">
            <a:avLst>
              <a:gd name="adj" fmla="val 7420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37740" y="6670596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Behavior Metrics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637740" y="7088386"/>
            <a:ext cx="5366385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Frequency, ratings, shipping preferences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1134666"/>
            <a:ext cx="1331357" cy="479346"/>
          </a:xfrm>
          <a:prstGeom prst="roundRect">
            <a:avLst>
              <a:gd name="adj" fmla="val 17306"/>
            </a:avLst>
          </a:prstGeom>
          <a:noFill/>
          <a:ln w="7620">
            <a:solidFill>
              <a:srgbClr val="F65F6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770" y="1275636"/>
            <a:ext cx="197406" cy="197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5879" y="1216343"/>
            <a:ext cx="723781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864037" y="1712714"/>
            <a:ext cx="608826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 Preparation Process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864037" y="2768798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4037" y="3157895"/>
            <a:ext cx="4136231" cy="3048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8" name="Text 5"/>
          <p:cNvSpPr/>
          <p:nvPr/>
        </p:nvSpPr>
        <p:spPr>
          <a:xfrm>
            <a:off x="864037" y="3342203"/>
            <a:ext cx="32540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 Loading &amp; Exploration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864037" y="3833217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Imported dataset, checked structure and summary statistics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247084" y="2768798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247084" y="3157895"/>
            <a:ext cx="4136231" cy="3048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2" name="Text 9"/>
          <p:cNvSpPr/>
          <p:nvPr/>
        </p:nvSpPr>
        <p:spPr>
          <a:xfrm>
            <a:off x="5247084" y="334220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Missing Data Handling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5247084" y="3833217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Imputed 37 missing Review Ratings using category medians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630132" y="2768798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9630132" y="3157895"/>
            <a:ext cx="4136231" cy="3048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6" name="Text 13"/>
          <p:cNvSpPr/>
          <p:nvPr/>
        </p:nvSpPr>
        <p:spPr>
          <a:xfrm>
            <a:off x="9630132" y="334220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Feature Engineering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9630132" y="3833217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Created age groups and purchase frequency metrics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64037" y="5055275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864037" y="5444371"/>
            <a:ext cx="6327696" cy="3048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20" name="Text 17"/>
          <p:cNvSpPr/>
          <p:nvPr/>
        </p:nvSpPr>
        <p:spPr>
          <a:xfrm>
            <a:off x="864037" y="562868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 Consistency</a:t>
            </a:r>
            <a:endParaRPr lang="en-US" sz="2150" dirty="0"/>
          </a:p>
        </p:txBody>
      </p:sp>
      <p:sp>
        <p:nvSpPr>
          <p:cNvPr id="21" name="Text 18"/>
          <p:cNvSpPr/>
          <p:nvPr/>
        </p:nvSpPr>
        <p:spPr>
          <a:xfrm>
            <a:off x="864037" y="6119693"/>
            <a:ext cx="632769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Standardized columns, removed redundant promo code field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438549" y="5055275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7438549" y="5444371"/>
            <a:ext cx="6327815" cy="3048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24" name="Text 21"/>
          <p:cNvSpPr/>
          <p:nvPr/>
        </p:nvSpPr>
        <p:spPr>
          <a:xfrm>
            <a:off x="7438549" y="562868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Database Integration</a:t>
            </a:r>
            <a:endParaRPr lang="en-US" sz="2150" dirty="0"/>
          </a:p>
        </p:txBody>
      </p:sp>
      <p:sp>
        <p:nvSpPr>
          <p:cNvPr id="25" name="Text 22"/>
          <p:cNvSpPr/>
          <p:nvPr/>
        </p:nvSpPr>
        <p:spPr>
          <a:xfrm>
            <a:off x="7438549" y="6119693"/>
            <a:ext cx="63278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Loaded cleaned data into PostgreSQL for analysis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437" y="1763673"/>
            <a:ext cx="1845350" cy="464106"/>
          </a:xfrm>
          <a:prstGeom prst="roundRect">
            <a:avLst>
              <a:gd name="adj" fmla="val 17874"/>
            </a:avLst>
          </a:prstGeom>
          <a:solidFill>
            <a:srgbClr val="48040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8550" y="1897023"/>
            <a:ext cx="197406" cy="1974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94659" y="1837730"/>
            <a:ext cx="1253014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 ANALYSIS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6350437" y="2326481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Business Insights</a:t>
            </a:r>
            <a:endParaRPr lang="en-US" sz="4300" dirty="0"/>
          </a:p>
        </p:txBody>
      </p:sp>
      <p:sp>
        <p:nvSpPr>
          <p:cNvPr id="7" name="Text 3"/>
          <p:cNvSpPr/>
          <p:nvPr/>
        </p:nvSpPr>
        <p:spPr>
          <a:xfrm>
            <a:off x="6350437" y="362938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by Gender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6350437" y="4219099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Male customers: $157,890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350437" y="4836319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Female customers: $75,191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350437" y="5453539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Male shoppers generate 2x more revenue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367129" y="362938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Shipping Preferences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10367129" y="4219099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Express: $60.48 avg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0367129" y="4836319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Standard: $58.46 avg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0367129" y="5453539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 users spend slightly more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5163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Top-Rated Products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954536"/>
            <a:ext cx="3353991" cy="308610"/>
          </a:xfrm>
          <a:prstGeom prst="roundRect">
            <a:avLst>
              <a:gd name="adj" fmla="val 3360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037" y="2954536"/>
            <a:ext cx="2582466" cy="308610"/>
          </a:xfrm>
          <a:prstGeom prst="roundRect">
            <a:avLst>
              <a:gd name="adj" fmla="val 33600"/>
            </a:avLst>
          </a:prstGeom>
          <a:solidFill>
            <a:srgbClr val="F65F62"/>
          </a:solidFill>
          <a:ln/>
        </p:spPr>
      </p:sp>
      <p:sp>
        <p:nvSpPr>
          <p:cNvPr id="5" name="Text 3"/>
          <p:cNvSpPr/>
          <p:nvPr/>
        </p:nvSpPr>
        <p:spPr>
          <a:xfrm>
            <a:off x="4403169" y="2954536"/>
            <a:ext cx="55590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77%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4037" y="357163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Gloves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864037" y="4062651"/>
            <a:ext cx="40950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Highest average rating: 3.86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67682" y="2954536"/>
            <a:ext cx="3353991" cy="308610"/>
          </a:xfrm>
          <a:prstGeom prst="roundRect">
            <a:avLst>
              <a:gd name="adj" fmla="val 3360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67682" y="2954536"/>
            <a:ext cx="2582466" cy="308610"/>
          </a:xfrm>
          <a:prstGeom prst="roundRect">
            <a:avLst>
              <a:gd name="adj" fmla="val 33600"/>
            </a:avLst>
          </a:prstGeom>
          <a:solidFill>
            <a:srgbClr val="F65F62"/>
          </a:solidFill>
          <a:ln/>
        </p:spPr>
      </p:sp>
      <p:sp>
        <p:nvSpPr>
          <p:cNvPr id="10" name="Text 8"/>
          <p:cNvSpPr/>
          <p:nvPr/>
        </p:nvSpPr>
        <p:spPr>
          <a:xfrm>
            <a:off x="8806815" y="2954536"/>
            <a:ext cx="55590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77%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67682" y="357163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Sandals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5267682" y="4062651"/>
            <a:ext cx="40950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Strong performance: 3.84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71328" y="2954536"/>
            <a:ext cx="3341013" cy="308610"/>
          </a:xfrm>
          <a:prstGeom prst="roundRect">
            <a:avLst>
              <a:gd name="adj" fmla="val 3360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1328" y="2954536"/>
            <a:ext cx="2539127" cy="308610"/>
          </a:xfrm>
          <a:prstGeom prst="roundRect">
            <a:avLst>
              <a:gd name="adj" fmla="val 33600"/>
            </a:avLst>
          </a:prstGeom>
          <a:solidFill>
            <a:srgbClr val="F65F62"/>
          </a:solidFill>
          <a:ln/>
        </p:spPr>
      </p:sp>
      <p:sp>
        <p:nvSpPr>
          <p:cNvPr id="15" name="Text 13"/>
          <p:cNvSpPr/>
          <p:nvPr/>
        </p:nvSpPr>
        <p:spPr>
          <a:xfrm>
            <a:off x="13197483" y="2954536"/>
            <a:ext cx="568881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76%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71328" y="357163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Boots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9671328" y="4062651"/>
            <a:ext cx="40950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Solid ratings: 3.82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64037" y="5074801"/>
            <a:ext cx="3341013" cy="308610"/>
          </a:xfrm>
          <a:prstGeom prst="roundRect">
            <a:avLst>
              <a:gd name="adj" fmla="val 3360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4037" y="5074801"/>
            <a:ext cx="2539127" cy="308610"/>
          </a:xfrm>
          <a:prstGeom prst="roundRect">
            <a:avLst>
              <a:gd name="adj" fmla="val 33600"/>
            </a:avLst>
          </a:prstGeom>
          <a:solidFill>
            <a:srgbClr val="F65F62"/>
          </a:solidFill>
          <a:ln/>
        </p:spPr>
      </p:sp>
      <p:sp>
        <p:nvSpPr>
          <p:cNvPr id="20" name="Text 18"/>
          <p:cNvSpPr/>
          <p:nvPr/>
        </p:nvSpPr>
        <p:spPr>
          <a:xfrm>
            <a:off x="4390192" y="5074801"/>
            <a:ext cx="568881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76%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64037" y="569190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Hat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864037" y="6182916"/>
            <a:ext cx="40950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favorite: 3.80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267682" y="5074801"/>
            <a:ext cx="3341013" cy="308610"/>
          </a:xfrm>
          <a:prstGeom prst="roundRect">
            <a:avLst>
              <a:gd name="adj" fmla="val 3360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67682" y="5074801"/>
            <a:ext cx="2539127" cy="308610"/>
          </a:xfrm>
          <a:prstGeom prst="roundRect">
            <a:avLst>
              <a:gd name="adj" fmla="val 33600"/>
            </a:avLst>
          </a:prstGeom>
          <a:solidFill>
            <a:srgbClr val="F65F62"/>
          </a:solidFill>
          <a:ln/>
        </p:spPr>
      </p:sp>
      <p:sp>
        <p:nvSpPr>
          <p:cNvPr id="25" name="Text 23"/>
          <p:cNvSpPr/>
          <p:nvPr/>
        </p:nvSpPr>
        <p:spPr>
          <a:xfrm>
            <a:off x="8793837" y="5074801"/>
            <a:ext cx="568881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76%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267682" y="569190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Skirt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5267682" y="6182916"/>
            <a:ext cx="40950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Consistent quality: 3.78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30712"/>
            <a:ext cx="583489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Segmentation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1820347" y="365355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Loyal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144566"/>
            <a:ext cx="369951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3,116 customers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687729"/>
            <a:ext cx="369951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80% of customer base</a:t>
            </a:r>
            <a:endParaRPr lang="en-US" sz="1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7299" y="2110264"/>
            <a:ext cx="4515803" cy="451580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979" y="4183499"/>
            <a:ext cx="369332" cy="3693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43386" y="243197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Returning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9943386" y="2922984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701 customers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943386" y="3466148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18% of base</a:t>
            </a:r>
            <a:endParaRPr lang="en-US" sz="1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299" y="2110264"/>
            <a:ext cx="4515803" cy="451580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0752" y="2814637"/>
            <a:ext cx="369332" cy="3693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43386" y="48750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New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9943386" y="5366028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83 customers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9943386" y="5909191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2% of base</a:t>
            </a:r>
            <a:endParaRPr lang="en-US" sz="1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299" y="2110264"/>
            <a:ext cx="4515803" cy="4515803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0752" y="5552242"/>
            <a:ext cx="369332" cy="3693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4037" y="690372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Strong loyalty foundation with opportunity to convert returning customers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9480" y="37719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Subscription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62393" y="2009775"/>
            <a:ext cx="16869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27%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7251" y="1152525"/>
            <a:ext cx="2057400" cy="2057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43951" y="3381375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Subscribers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459480" y="3709035"/>
            <a:ext cx="4492943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1,053 customers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459480" y="4051816"/>
            <a:ext cx="4492943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Avg spend: $59.49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62393" y="5437108"/>
            <a:ext cx="16869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73%</a:t>
            </a:r>
            <a:endParaRPr lang="en-US" sz="2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251" y="4579858"/>
            <a:ext cx="2057400" cy="2057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43951" y="6808708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Non-Subscribers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59480" y="7136368"/>
            <a:ext cx="4492943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2,847 customers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459480" y="7479149"/>
            <a:ext cx="4492943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Avg spend: $59.87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94608" y="1101090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294608" y="1428750"/>
            <a:ext cx="2883813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958 repeat buyers (&gt;5 purchases) are subscribers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294608" y="1990963"/>
            <a:ext cx="2883813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Subscription correlates with loyalty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64037" y="2510671"/>
            <a:ext cx="1675567" cy="464106"/>
          </a:xfrm>
          <a:prstGeom prst="roundRect">
            <a:avLst>
              <a:gd name="adj" fmla="val 17874"/>
            </a:avLst>
          </a:prstGeom>
          <a:solidFill>
            <a:srgbClr val="48040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150" y="2644021"/>
            <a:ext cx="197406" cy="1974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08259" y="2584728"/>
            <a:ext cx="1083231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864037" y="307347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Power BI Insights</a:t>
            </a:r>
            <a:endParaRPr lang="en-US" sz="4300" dirty="0"/>
          </a:p>
        </p:txBody>
      </p:sp>
      <p:sp>
        <p:nvSpPr>
          <p:cNvPr id="7" name="Text 3"/>
          <p:cNvSpPr/>
          <p:nvPr/>
        </p:nvSpPr>
        <p:spPr>
          <a:xfrm>
            <a:off x="864037" y="4252913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3.9K</a:t>
            </a:r>
            <a:endParaRPr lang="en-US" sz="6400" dirty="0"/>
          </a:p>
        </p:txBody>
      </p:sp>
      <p:sp>
        <p:nvSpPr>
          <p:cNvPr id="8" name="Text 4"/>
          <p:cNvSpPr/>
          <p:nvPr/>
        </p:nvSpPr>
        <p:spPr>
          <a:xfrm>
            <a:off x="864037" y="5376029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Total Customers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3438882" y="4252913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$59.76</a:t>
            </a:r>
            <a:endParaRPr lang="en-US" sz="6400" dirty="0"/>
          </a:p>
        </p:txBody>
      </p:sp>
      <p:sp>
        <p:nvSpPr>
          <p:cNvPr id="10" name="Text 6"/>
          <p:cNvSpPr/>
          <p:nvPr/>
        </p:nvSpPr>
        <p:spPr>
          <a:xfrm>
            <a:off x="3438882" y="5376029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Avg Purchase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6013728" y="4252913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3.75</a:t>
            </a:r>
            <a:endParaRPr lang="en-US" sz="6400" dirty="0"/>
          </a:p>
        </p:txBody>
      </p:sp>
      <p:sp>
        <p:nvSpPr>
          <p:cNvPr id="12" name="Text 8"/>
          <p:cNvSpPr/>
          <p:nvPr/>
        </p:nvSpPr>
        <p:spPr>
          <a:xfrm>
            <a:off x="6013728" y="5376029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Avg Rating</a:t>
            </a:r>
            <a:endParaRPr lang="en-US" sz="2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7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0822" y="3751064"/>
            <a:ext cx="5466040" cy="683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Distribution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0822" y="5048964"/>
            <a:ext cx="2732961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By Category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0822" y="5636300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Clothing: $100K (43%)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0822" y="6115883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Accessories: $70K (30%)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0822" y="6595467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Footwear: $30K (13%)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0822" y="7075051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Outerwear: $10K (4%)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622858" y="5048964"/>
            <a:ext cx="2732961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By Age Group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7622858" y="5636300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Young Adult: $62K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622858" y="6115883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Middle-aged: $59K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622858" y="6595467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Adult: $56K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622858" y="7075051"/>
            <a:ext cx="615434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5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Senior: $56K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1148715"/>
            <a:ext cx="1530310" cy="464106"/>
          </a:xfrm>
          <a:prstGeom prst="roundRect">
            <a:avLst>
              <a:gd name="adj" fmla="val 17874"/>
            </a:avLst>
          </a:prstGeom>
          <a:solidFill>
            <a:srgbClr val="480405"/>
          </a:solidFill>
          <a:ln/>
        </p:spPr>
      </p:sp>
      <p:sp>
        <p:nvSpPr>
          <p:cNvPr id="3" name="Text 1"/>
          <p:cNvSpPr/>
          <p:nvPr/>
        </p:nvSpPr>
        <p:spPr>
          <a:xfrm>
            <a:off x="1012150" y="1222772"/>
            <a:ext cx="1234083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ACTION ITEMS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1711523"/>
            <a:ext cx="683716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Strategic Recommendations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864037" y="2767608"/>
            <a:ext cx="4136231" cy="2230755"/>
          </a:xfrm>
          <a:prstGeom prst="roundRect">
            <a:avLst>
              <a:gd name="adj" fmla="val 6558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F65F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3557" y="2767608"/>
            <a:ext cx="121920" cy="2230755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</p:sp>
      <p:sp>
        <p:nvSpPr>
          <p:cNvPr id="7" name="Text 5"/>
          <p:cNvSpPr/>
          <p:nvPr/>
        </p:nvSpPr>
        <p:spPr>
          <a:xfrm>
            <a:off x="1232773" y="304490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Boost Subscriptions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232773" y="3535918"/>
            <a:ext cx="34901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Promote exclusive benefits to convert 73% non-subscribers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7084" y="2767608"/>
            <a:ext cx="4136231" cy="2230755"/>
          </a:xfrm>
          <a:prstGeom prst="roundRect">
            <a:avLst>
              <a:gd name="adj" fmla="val 6558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F65F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6604" y="2767608"/>
            <a:ext cx="121920" cy="2230755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</p:sp>
      <p:sp>
        <p:nvSpPr>
          <p:cNvPr id="11" name="Text 9"/>
          <p:cNvSpPr/>
          <p:nvPr/>
        </p:nvSpPr>
        <p:spPr>
          <a:xfrm>
            <a:off x="5615821" y="304490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Loyalty Programs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5615821" y="3535918"/>
            <a:ext cx="34901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Reward repeat buyers to strengthen loyal segment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0132" y="2767608"/>
            <a:ext cx="4136231" cy="2230755"/>
          </a:xfrm>
          <a:prstGeom prst="roundRect">
            <a:avLst>
              <a:gd name="adj" fmla="val 6558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F65F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99652" y="2767608"/>
            <a:ext cx="121920" cy="2230755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</p:sp>
      <p:sp>
        <p:nvSpPr>
          <p:cNvPr id="15" name="Text 13"/>
          <p:cNvSpPr/>
          <p:nvPr/>
        </p:nvSpPr>
        <p:spPr>
          <a:xfrm>
            <a:off x="9998869" y="3044904"/>
            <a:ext cx="27515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Review Discount Policy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9998869" y="3535918"/>
            <a:ext cx="349019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839 high-spenders used discounts—optimize margin balance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4037" y="5245179"/>
            <a:ext cx="4136231" cy="1835706"/>
          </a:xfrm>
          <a:prstGeom prst="roundRect">
            <a:avLst>
              <a:gd name="adj" fmla="val 797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F65F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557" y="5245179"/>
            <a:ext cx="121920" cy="1835706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</p:sp>
      <p:sp>
        <p:nvSpPr>
          <p:cNvPr id="19" name="Text 17"/>
          <p:cNvSpPr/>
          <p:nvPr/>
        </p:nvSpPr>
        <p:spPr>
          <a:xfrm>
            <a:off x="1232773" y="552247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Product Positioning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1232773" y="6013490"/>
            <a:ext cx="34901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Highlight top-rated items like gloves and sandals in campaigns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247084" y="5245179"/>
            <a:ext cx="4136231" cy="1835706"/>
          </a:xfrm>
          <a:prstGeom prst="roundRect">
            <a:avLst>
              <a:gd name="adj" fmla="val 797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F65F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6604" y="5245179"/>
            <a:ext cx="121920" cy="1835706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</p:sp>
      <p:sp>
        <p:nvSpPr>
          <p:cNvPr id="23" name="Text 21"/>
          <p:cNvSpPr/>
          <p:nvPr/>
        </p:nvSpPr>
        <p:spPr>
          <a:xfrm>
            <a:off x="5615821" y="552247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24" name="Text 22"/>
          <p:cNvSpPr/>
          <p:nvPr/>
        </p:nvSpPr>
        <p:spPr>
          <a:xfrm>
            <a:off x="5615821" y="6013490"/>
            <a:ext cx="34901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on young adults and express-shipping users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2026-01-19T15:40:14Z</dcterms:created>
  <dcterms:modified xsi:type="dcterms:W3CDTF">2026-01-19T15:40:14Z</dcterms:modified>
</cp:coreProperties>
</file>